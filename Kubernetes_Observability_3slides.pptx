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35D24-FF0D-F4B7-1CFA-82BA908F2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701FE-4784-9481-01C9-A692EA4B6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4D23E-07FF-7D0B-65E0-F0E65E862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5F928-8207-4F0A-DDEE-D73A2CFB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692E9-F2F1-49F5-E89C-D8E170DE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07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A7F1A-A975-7C55-DC9C-EFC976C7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4E5B8-1825-4869-B994-24D2186B3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91D83-9E3E-40F1-2AFF-8BD16DA6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8D79-690E-BA7B-1CD7-17F821D33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10BA3-E8DC-0D6A-43A1-BF31385F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2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1A3A-5B74-6A21-0027-BD4CF435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7E934-79F0-2239-FAB4-2E49FEB9F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8E7BF-616C-F7E3-5E6D-E0A05D03B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ED11-3C36-061A-F1C4-3D5BAC7F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08409-0D79-77C1-B7FE-03BA2D9C4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8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E8163-4DD1-E3CA-BD00-1C5F351D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50ABD-A324-880E-15E2-8C573D2E6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D1F8B-B160-4961-050E-B9C1D26DD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E5B15-B967-798D-243E-3CF69BB04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9FD61-715E-D251-D4EF-29D3DB62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061D8-C6CF-82C9-F79B-F9B67FC8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38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D3FC-CD80-A45B-003B-7FFD60CC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4DB57-910E-368C-AED3-D4784344C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F378E-0DD3-BA76-F498-51CB835B4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241FF-1137-EC32-7BA9-E36101C9A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505AFB-FEE0-4AA2-2935-6B35D82BE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C2E201-B16D-0064-047F-7475DE4B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EE3135-DC38-D9A2-406A-973BAE3F4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0012F-2DA1-ECD9-8DA7-D610964B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2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B520-D8FC-5AE7-3F76-F05C9E51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56F72-AF4C-F805-C830-75ED4A7C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AE7DC-2396-78A8-52D0-E48387D2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2F1BC-251D-C970-AF93-9BE41776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1D4D9D-6EF8-92CC-056B-ADD4B349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39D6DC-1EF9-3519-A15A-A8399CFA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265F-0440-2DB9-ADD9-3AF3B6E2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92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1287F-D59C-BB81-D2C2-29409BAA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FF69F-62DB-7191-135A-F3C1666B9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3B2DE-9803-8A10-4AE9-E2B124096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F5ECB-00E3-0FF7-AA25-84D26814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90111-0BAC-0841-AE17-3E1838CC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43944-84A1-8083-07FE-4C11BA7F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9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D604-70E7-17E8-0D68-CD64D0F6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D5EAF-7F8F-1F8C-BE23-638836841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F5E71-01F1-3EFB-5424-5D7C4BEA5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2EC7D-ECF7-8F52-F54B-2DE48958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CA7E3-0183-92C9-B0E4-E0A56472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0C252-9E9B-20C8-948B-71A7B3FF7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4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41ED-5F61-C883-EFCB-05AA92B66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422CA-74C7-183F-2C17-D2DC5981E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1652-1EFB-B41C-5899-63BA83AF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B9888-45C2-9257-DB6C-3402C03E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C1AE5-6ADA-DC45-5D38-7F7C299D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1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FF402-7E3D-5E77-2616-493C5D98D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BE080-3815-8676-7607-6019BADB2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B8944-5DBF-76F2-8BC4-AE991ADA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7D70F-298B-93F5-7B45-932E87725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B862A-84C7-B73A-5E0E-C4D7BCDA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21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4A9B3-0208-F491-F8FB-A1B4E0EB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8C488-B212-6C5C-1E69-B8216F4F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2F6E6-FAAC-A92D-8D64-9C3C1E233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F17DD-89C0-4D3D-8DE2-3CF1BD2C13E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F8289-E644-AC86-786C-3CB063C8E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A2EE-32A7-920E-A999-9FC326FF0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F910C-6238-472B-994F-C7890F9A1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99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465F4D-7A99-0AC0-43D9-AD7F462B5DE6}"/>
              </a:ext>
            </a:extLst>
          </p:cNvPr>
          <p:cNvSpPr txBox="1"/>
          <p:nvPr/>
        </p:nvSpPr>
        <p:spPr>
          <a:xfrm>
            <a:off x="609600" y="330200"/>
            <a:ext cx="10972800" cy="58990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3500" b="1">
                <a:solidFill>
                  <a:srgbClr val="182030"/>
                </a:solidFill>
                <a:latin typeface="Aptos" panose="020B0004020202020204" pitchFamily="34" charset="0"/>
              </a:rPr>
              <a:t>One collector joins four telemetry paths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9ABE0A-1F51-0E11-4BFD-86F13FF6F6C4}"/>
              </a:ext>
            </a:extLst>
          </p:cNvPr>
          <p:cNvSpPr/>
          <p:nvPr/>
        </p:nvSpPr>
        <p:spPr>
          <a:xfrm>
            <a:off x="609600" y="1155700"/>
            <a:ext cx="914400" cy="50800"/>
          </a:xfrm>
          <a:prstGeom prst="rect">
            <a:avLst/>
          </a:prstGeom>
          <a:solidFill>
            <a:srgbClr val="008A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25F44-24AB-5044-0357-5B3C42E1E123}"/>
              </a:ext>
            </a:extLst>
          </p:cNvPr>
          <p:cNvSpPr txBox="1"/>
          <p:nvPr/>
        </p:nvSpPr>
        <p:spPr>
          <a:xfrm>
            <a:off x="609600" y="6527800"/>
            <a:ext cx="889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b="1">
                <a:solidFill>
                  <a:srgbClr val="505A66"/>
                </a:solidFill>
                <a:latin typeface="Aptos" panose="020B0004020202020204" pitchFamily="34" charset="0"/>
              </a:rPr>
              <a:t>KUBERNETES SRE OBSERVABILITY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7BBEE-5EA9-85E6-C655-2B8C89F2E316}"/>
              </a:ext>
            </a:extLst>
          </p:cNvPr>
          <p:cNvSpPr txBox="1"/>
          <p:nvPr/>
        </p:nvSpPr>
        <p:spPr>
          <a:xfrm>
            <a:off x="11226800" y="6477000"/>
            <a:ext cx="406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505A66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FF414-2789-88AC-4EDD-D2E21A451CD9}"/>
              </a:ext>
            </a:extLst>
          </p:cNvPr>
          <p:cNvSpPr txBox="1"/>
          <p:nvPr/>
        </p:nvSpPr>
        <p:spPr>
          <a:xfrm>
            <a:off x="698500" y="1346200"/>
            <a:ext cx="10668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800">
                <a:solidFill>
                  <a:srgbClr val="505A66"/>
                </a:solidFill>
                <a:latin typeface="Aptos" panose="020B0004020202020204" pitchFamily="34" charset="0"/>
              </a:rPr>
              <a:t>Read-only Python automation gathers operational signals and writes one timestamped JSON snapshot.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A15078-ED97-EDE3-8605-DD8824E2184C}"/>
              </a:ext>
            </a:extLst>
          </p:cNvPr>
          <p:cNvSpPr/>
          <p:nvPr/>
        </p:nvSpPr>
        <p:spPr>
          <a:xfrm>
            <a:off x="698500" y="2159000"/>
            <a:ext cx="3365500" cy="990600"/>
          </a:xfrm>
          <a:prstGeom prst="roundRect">
            <a:avLst/>
          </a:prstGeom>
          <a:solidFill>
            <a:srgbClr val="ECF1F4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700" b="1">
                <a:solidFill>
                  <a:srgbClr val="182030"/>
                </a:solidFill>
                <a:latin typeface="Aptos" panose="020B0004020202020204" pitchFamily="34" charset="0"/>
              </a:rPr>
              <a:t>Kubernetes API / Inventory / events / logs / health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16CBC6-05BD-F0A7-FF2C-C821A4DB98F8}"/>
              </a:ext>
            </a:extLst>
          </p:cNvPr>
          <p:cNvSpPr/>
          <p:nvPr/>
        </p:nvSpPr>
        <p:spPr>
          <a:xfrm>
            <a:off x="698500" y="3530600"/>
            <a:ext cx="3365500" cy="990600"/>
          </a:xfrm>
          <a:prstGeom prst="roundRect">
            <a:avLst/>
          </a:prstGeom>
          <a:solidFill>
            <a:srgbClr val="ECF1F4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700" b="1">
                <a:solidFill>
                  <a:srgbClr val="182030"/>
                </a:solidFill>
                <a:latin typeface="Aptos" panose="020B0004020202020204" pitchFamily="34" charset="0"/>
              </a:rPr>
              <a:t>Metrics Server / Current node and pod usage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6577ED-2FF8-370D-D67B-3DFB7CD94AF0}"/>
              </a:ext>
            </a:extLst>
          </p:cNvPr>
          <p:cNvSpPr/>
          <p:nvPr/>
        </p:nvSpPr>
        <p:spPr>
          <a:xfrm>
            <a:off x="698500" y="4902200"/>
            <a:ext cx="3365500" cy="990600"/>
          </a:xfrm>
          <a:prstGeom prst="roundRect">
            <a:avLst/>
          </a:prstGeom>
          <a:solidFill>
            <a:srgbClr val="ECF1F4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700" b="1">
                <a:solidFill>
                  <a:srgbClr val="182030"/>
                </a:solidFill>
                <a:latin typeface="Aptos" panose="020B0004020202020204" pitchFamily="34" charset="0"/>
              </a:rPr>
              <a:t>Prometheus / Historical PromQL ranges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C623D0-0DE8-20DB-5D25-7B3089FABE2C}"/>
              </a:ext>
            </a:extLst>
          </p:cNvPr>
          <p:cNvSpPr/>
          <p:nvPr/>
        </p:nvSpPr>
        <p:spPr>
          <a:xfrm>
            <a:off x="4978400" y="3149600"/>
            <a:ext cx="2984500" cy="1270000"/>
          </a:xfrm>
          <a:prstGeom prst="roundRect">
            <a:avLst/>
          </a:prstGeom>
          <a:solidFill>
            <a:srgbClr val="EEF2E2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2000" b="1">
                <a:solidFill>
                  <a:srgbClr val="182030"/>
                </a:solidFill>
                <a:latin typeface="Aptos" panose="020B0004020202020204" pitchFamily="34" charset="0"/>
              </a:rPr>
              <a:t>Python collector / YAML config + bounds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9E08A5-8799-8247-C118-630C1F967B9A}"/>
              </a:ext>
            </a:extLst>
          </p:cNvPr>
          <p:cNvSpPr/>
          <p:nvPr/>
        </p:nvSpPr>
        <p:spPr>
          <a:xfrm>
            <a:off x="8763000" y="2159000"/>
            <a:ext cx="2794000" cy="990600"/>
          </a:xfrm>
          <a:prstGeom prst="roundRect">
            <a:avLst/>
          </a:prstGeom>
          <a:solidFill>
            <a:srgbClr val="ECF1F4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700" b="1">
                <a:solidFill>
                  <a:srgbClr val="182030"/>
                </a:solidFill>
                <a:latin typeface="Aptos" panose="020B0004020202020204" pitchFamily="34" charset="0"/>
              </a:rPr>
              <a:t>Trace search API / Backend-specific query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31DC15-5012-E2CB-A189-3BE36A6243AF}"/>
              </a:ext>
            </a:extLst>
          </p:cNvPr>
          <p:cNvSpPr/>
          <p:nvPr/>
        </p:nvSpPr>
        <p:spPr>
          <a:xfrm>
            <a:off x="8763000" y="4318000"/>
            <a:ext cx="2794000" cy="990600"/>
          </a:xfrm>
          <a:prstGeom prst="roundRect">
            <a:avLst/>
          </a:prstGeom>
          <a:solidFill>
            <a:srgbClr val="ECF1F4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700" b="1">
                <a:solidFill>
                  <a:srgbClr val="182030"/>
                </a:solidFill>
                <a:latin typeface="Aptos" panose="020B0004020202020204" pitchFamily="34" charset="0"/>
              </a:rPr>
              <a:t>JSON snapshot / Health + signals + errors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8994A0-BE77-A27A-F696-9C507A328E05}"/>
              </a:ext>
            </a:extLst>
          </p:cNvPr>
          <p:cNvCxnSpPr/>
          <p:nvPr/>
        </p:nvCxnSpPr>
        <p:spPr>
          <a:xfrm>
            <a:off x="4064000" y="2654300"/>
            <a:ext cx="914400" cy="850900"/>
          </a:xfrm>
          <a:prstGeom prst="straightConnector1">
            <a:avLst/>
          </a:prstGeom>
          <a:ln w="25400">
            <a:solidFill>
              <a:srgbClr val="008AB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826814-72AF-B06E-1CC5-379EA72F0508}"/>
              </a:ext>
            </a:extLst>
          </p:cNvPr>
          <p:cNvCxnSpPr/>
          <p:nvPr/>
        </p:nvCxnSpPr>
        <p:spPr>
          <a:xfrm flipV="1">
            <a:off x="4064000" y="3810000"/>
            <a:ext cx="914400" cy="215900"/>
          </a:xfrm>
          <a:prstGeom prst="straightConnector1">
            <a:avLst/>
          </a:prstGeom>
          <a:ln w="25400">
            <a:solidFill>
              <a:srgbClr val="008AB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A6ADF0-FEFD-A854-652B-F08AD5AB0A43}"/>
              </a:ext>
            </a:extLst>
          </p:cNvPr>
          <p:cNvCxnSpPr/>
          <p:nvPr/>
        </p:nvCxnSpPr>
        <p:spPr>
          <a:xfrm flipV="1">
            <a:off x="4064000" y="4127500"/>
            <a:ext cx="914400" cy="1270000"/>
          </a:xfrm>
          <a:prstGeom prst="straightConnector1">
            <a:avLst/>
          </a:prstGeom>
          <a:ln w="25400">
            <a:solidFill>
              <a:srgbClr val="008AB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67CA52-57C8-E2F2-3E5B-8FACDF0F7D4D}"/>
              </a:ext>
            </a:extLst>
          </p:cNvPr>
          <p:cNvCxnSpPr/>
          <p:nvPr/>
        </p:nvCxnSpPr>
        <p:spPr>
          <a:xfrm flipH="1">
            <a:off x="7962900" y="2654300"/>
            <a:ext cx="800100" cy="825500"/>
          </a:xfrm>
          <a:prstGeom prst="straightConnector1">
            <a:avLst/>
          </a:prstGeom>
          <a:ln w="25400">
            <a:solidFill>
              <a:srgbClr val="008AB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15FECD-F653-1B65-B7C5-232B45522806}"/>
              </a:ext>
            </a:extLst>
          </p:cNvPr>
          <p:cNvCxnSpPr/>
          <p:nvPr/>
        </p:nvCxnSpPr>
        <p:spPr>
          <a:xfrm>
            <a:off x="7962900" y="4089400"/>
            <a:ext cx="800100" cy="546100"/>
          </a:xfrm>
          <a:prstGeom prst="straightConnector1">
            <a:avLst/>
          </a:prstGeom>
          <a:ln w="25400">
            <a:solidFill>
              <a:srgbClr val="008AB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5D52FD5-80F6-3841-3CFB-763E922C1FEA}"/>
              </a:ext>
            </a:extLst>
          </p:cNvPr>
          <p:cNvSpPr txBox="1"/>
          <p:nvPr/>
        </p:nvSpPr>
        <p:spPr>
          <a:xfrm>
            <a:off x="698500" y="5969000"/>
            <a:ext cx="10795000" cy="26738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400">
                <a:solidFill>
                  <a:srgbClr val="505A66"/>
                </a:solidFill>
                <a:latin typeface="Aptos" panose="020B0004020202020204" pitchFamily="34" charset="0"/>
              </a:rPr>
              <a:t>Metrics Server is point-in-time; Prometheus supplies history. OTLP ingestion does not query stored traces.</a:t>
            </a:r>
          </a:p>
        </p:txBody>
      </p:sp>
    </p:spTree>
    <p:extLst>
      <p:ext uri="{BB962C8B-B14F-4D97-AF65-F5344CB8AC3E}">
        <p14:creationId xmlns:p14="http://schemas.microsoft.com/office/powerpoint/2010/main" val="369186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FA3E61-5433-B7A7-DD38-57E4320C492C}"/>
              </a:ext>
            </a:extLst>
          </p:cNvPr>
          <p:cNvSpPr txBox="1"/>
          <p:nvPr/>
        </p:nvSpPr>
        <p:spPr>
          <a:xfrm>
            <a:off x="609600" y="330200"/>
            <a:ext cx="10972800" cy="112851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3500" b="1">
                <a:solidFill>
                  <a:srgbClr val="182030"/>
                </a:solidFill>
                <a:latin typeface="Aptos" panose="020B0004020202020204" pitchFamily="34" charset="0"/>
              </a:rPr>
              <a:t>An 80% node threshold routes an email to the SRE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AAE2AB-FAEC-88DD-B9CA-D19D8C4407E3}"/>
              </a:ext>
            </a:extLst>
          </p:cNvPr>
          <p:cNvSpPr/>
          <p:nvPr/>
        </p:nvSpPr>
        <p:spPr>
          <a:xfrm>
            <a:off x="609600" y="1155700"/>
            <a:ext cx="914400" cy="50800"/>
          </a:xfrm>
          <a:prstGeom prst="rect">
            <a:avLst/>
          </a:prstGeom>
          <a:solidFill>
            <a:srgbClr val="008A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515C9-41C1-A5F0-1F78-3CCB51571196}"/>
              </a:ext>
            </a:extLst>
          </p:cNvPr>
          <p:cNvSpPr txBox="1"/>
          <p:nvPr/>
        </p:nvSpPr>
        <p:spPr>
          <a:xfrm>
            <a:off x="609600" y="6527800"/>
            <a:ext cx="889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b="1">
                <a:solidFill>
                  <a:srgbClr val="505A66"/>
                </a:solidFill>
                <a:latin typeface="Aptos" panose="020B0004020202020204" pitchFamily="34" charset="0"/>
              </a:rPr>
              <a:t>KUBERNETES SRE OBSERVABILITY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0236E-D499-8A4C-11E0-04E0D7E3611E}"/>
              </a:ext>
            </a:extLst>
          </p:cNvPr>
          <p:cNvSpPr txBox="1"/>
          <p:nvPr/>
        </p:nvSpPr>
        <p:spPr>
          <a:xfrm>
            <a:off x="11226800" y="6477000"/>
            <a:ext cx="406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505A66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94DAF-1574-0E12-8041-484A4192D265}"/>
              </a:ext>
            </a:extLst>
          </p:cNvPr>
          <p:cNvSpPr txBox="1"/>
          <p:nvPr/>
        </p:nvSpPr>
        <p:spPr>
          <a:xfrm>
            <a:off x="698500" y="1346200"/>
            <a:ext cx="10668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800">
                <a:solidFill>
                  <a:srgbClr val="505A66"/>
                </a:solidFill>
                <a:latin typeface="Aptos" panose="020B0004020202020204" pitchFamily="34" charset="0"/>
              </a:rPr>
              <a:t>Each collection run compares Metrics Server usage against node allocatable capacity.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E23BEB-E746-5CDD-E20B-CAD686CF4309}"/>
              </a:ext>
            </a:extLst>
          </p:cNvPr>
          <p:cNvSpPr/>
          <p:nvPr/>
        </p:nvSpPr>
        <p:spPr>
          <a:xfrm>
            <a:off x="609600" y="2565400"/>
            <a:ext cx="2413000" cy="1143000"/>
          </a:xfrm>
          <a:prstGeom prst="roundRect">
            <a:avLst/>
          </a:prstGeom>
          <a:solidFill>
            <a:srgbClr val="ECF1F4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700" b="1">
                <a:solidFill>
                  <a:srgbClr val="182030"/>
                </a:solidFill>
                <a:latin typeface="Aptos" panose="020B0004020202020204" pitchFamily="34" charset="0"/>
              </a:rPr>
              <a:t>Node CPU + memory`nMetrics API sample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5662FD-3E09-77F3-CB90-8FADE038F818}"/>
              </a:ext>
            </a:extLst>
          </p:cNvPr>
          <p:cNvSpPr/>
          <p:nvPr/>
        </p:nvSpPr>
        <p:spPr>
          <a:xfrm>
            <a:off x="3632200" y="2336800"/>
            <a:ext cx="2921000" cy="1600200"/>
          </a:xfrm>
          <a:prstGeom prst="roundRect">
            <a:avLst/>
          </a:prstGeom>
          <a:solidFill>
            <a:srgbClr val="EEF2E2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600" b="1">
                <a:solidFill>
                  <a:srgbClr val="182030"/>
                </a:solidFill>
                <a:latin typeface="Aptos" panose="020B0004020202020204" pitchFamily="34" charset="0"/>
              </a:rPr>
              <a:t>Normalize usage`nCPU cores / allocatable cores`nMemory bytes / allocatable bytes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A789CF-F914-A5D4-F201-77060D68E434}"/>
              </a:ext>
            </a:extLst>
          </p:cNvPr>
          <p:cNvSpPr/>
          <p:nvPr/>
        </p:nvSpPr>
        <p:spPr>
          <a:xfrm>
            <a:off x="7264400" y="2565400"/>
            <a:ext cx="2032000" cy="1143000"/>
          </a:xfrm>
          <a:prstGeom prst="roundRect">
            <a:avLst/>
          </a:prstGeom>
          <a:solidFill>
            <a:srgbClr val="D8F0FF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800" b="1">
                <a:solidFill>
                  <a:srgbClr val="182030"/>
                </a:solidFill>
                <a:latin typeface="Aptos" panose="020B0004020202020204" pitchFamily="34" charset="0"/>
              </a:rPr>
              <a:t>Either &gt;= 80% 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2731D3-1EDF-AD41-55E3-2194D9582933}"/>
              </a:ext>
            </a:extLst>
          </p:cNvPr>
          <p:cNvSpPr/>
          <p:nvPr/>
        </p:nvSpPr>
        <p:spPr>
          <a:xfrm>
            <a:off x="10033000" y="1930400"/>
            <a:ext cx="1905000" cy="1041400"/>
          </a:xfrm>
          <a:prstGeom prst="roundRect">
            <a:avLst/>
          </a:prstGeom>
          <a:solidFill>
            <a:srgbClr val="ECF1F4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500" b="1">
                <a:solidFill>
                  <a:srgbClr val="182030"/>
                </a:solidFill>
                <a:latin typeface="Aptos" panose="020B0004020202020204" pitchFamily="34" charset="0"/>
              </a:rPr>
              <a:t>SMTP relay`nTLS + env credentials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035C8E-97B9-BD09-F27C-FE4B9216F8E5}"/>
              </a:ext>
            </a:extLst>
          </p:cNvPr>
          <p:cNvSpPr/>
          <p:nvPr/>
        </p:nvSpPr>
        <p:spPr>
          <a:xfrm>
            <a:off x="10033000" y="3619500"/>
            <a:ext cx="1905000" cy="952500"/>
          </a:xfrm>
          <a:prstGeom prst="roundRect">
            <a:avLst/>
          </a:prstGeom>
          <a:solidFill>
            <a:srgbClr val="EEF2E2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500" b="1">
                <a:solidFill>
                  <a:srgbClr val="182030"/>
                </a:solidFill>
                <a:latin typeface="Aptos" panose="020B0004020202020204" pitchFamily="34" charset="0"/>
              </a:rPr>
              <a:t>Configured team / on-call mailbox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555B59-6B5D-8493-6542-DA9F431C37CF}"/>
              </a:ext>
            </a:extLst>
          </p:cNvPr>
          <p:cNvSpPr/>
          <p:nvPr/>
        </p:nvSpPr>
        <p:spPr>
          <a:xfrm>
            <a:off x="3810000" y="4953000"/>
            <a:ext cx="4953000" cy="889000"/>
          </a:xfrm>
          <a:prstGeom prst="roundRect">
            <a:avLst/>
          </a:prstGeom>
          <a:solidFill>
            <a:srgbClr val="ECF1F4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1600" b="1">
                <a:solidFill>
                  <a:srgbClr val="182030"/>
                </a:solidFill>
                <a:latin typeface="Aptos" panose="020B0004020202020204" pitchFamily="34" charset="0"/>
              </a:rPr>
              <a:t>JSON records utilization, threshold breaches, and delivery errors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7BF01A-49F7-F327-3762-03C60FC82A37}"/>
              </a:ext>
            </a:extLst>
          </p:cNvPr>
          <p:cNvCxnSpPr/>
          <p:nvPr/>
        </p:nvCxnSpPr>
        <p:spPr>
          <a:xfrm>
            <a:off x="3022600" y="3136900"/>
            <a:ext cx="609600" cy="0"/>
          </a:xfrm>
          <a:prstGeom prst="straightConnector1">
            <a:avLst/>
          </a:prstGeom>
          <a:ln w="25400">
            <a:solidFill>
              <a:srgbClr val="008AB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3833BD-6E58-214F-B82B-DA796F959214}"/>
              </a:ext>
            </a:extLst>
          </p:cNvPr>
          <p:cNvCxnSpPr/>
          <p:nvPr/>
        </p:nvCxnSpPr>
        <p:spPr>
          <a:xfrm>
            <a:off x="6553200" y="3136900"/>
            <a:ext cx="711200" cy="0"/>
          </a:xfrm>
          <a:prstGeom prst="straightConnector1">
            <a:avLst/>
          </a:prstGeom>
          <a:ln w="25400">
            <a:solidFill>
              <a:srgbClr val="008AB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EEF640-00BA-C3DA-4CF4-A80F0B35237D}"/>
              </a:ext>
            </a:extLst>
          </p:cNvPr>
          <p:cNvCxnSpPr/>
          <p:nvPr/>
        </p:nvCxnSpPr>
        <p:spPr>
          <a:xfrm flipV="1">
            <a:off x="9296400" y="2451100"/>
            <a:ext cx="736600" cy="393700"/>
          </a:xfrm>
          <a:prstGeom prst="straightConnector1">
            <a:avLst/>
          </a:prstGeom>
          <a:ln w="25400">
            <a:solidFill>
              <a:srgbClr val="008AB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C78B926-5A56-3718-4611-6572EF871255}"/>
              </a:ext>
            </a:extLst>
          </p:cNvPr>
          <p:cNvCxnSpPr/>
          <p:nvPr/>
        </p:nvCxnSpPr>
        <p:spPr>
          <a:xfrm>
            <a:off x="10985500" y="2971800"/>
            <a:ext cx="0" cy="647700"/>
          </a:xfrm>
          <a:prstGeom prst="straightConnector1">
            <a:avLst/>
          </a:prstGeom>
          <a:ln w="25400">
            <a:solidFill>
              <a:srgbClr val="008AB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BDE43C-A40D-DD17-D8C4-790A3DC88F25}"/>
              </a:ext>
            </a:extLst>
          </p:cNvPr>
          <p:cNvCxnSpPr/>
          <p:nvPr/>
        </p:nvCxnSpPr>
        <p:spPr>
          <a:xfrm>
            <a:off x="8255000" y="3708400"/>
            <a:ext cx="0" cy="1244600"/>
          </a:xfrm>
          <a:prstGeom prst="straightConnector1">
            <a:avLst/>
          </a:prstGeom>
          <a:ln w="25400">
            <a:solidFill>
              <a:srgbClr val="008AB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C8A6E97-0435-FA1B-37F1-39E0651128D6}"/>
              </a:ext>
            </a:extLst>
          </p:cNvPr>
          <p:cNvSpPr txBox="1"/>
          <p:nvPr/>
        </p:nvSpPr>
        <p:spPr>
          <a:xfrm>
            <a:off x="698500" y="5994400"/>
            <a:ext cx="10795000" cy="26738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400">
                <a:solidFill>
                  <a:srgbClr val="505A66"/>
                </a:solidFill>
                <a:latin typeface="Aptos" panose="020B0004020202020204" pitchFamily="34" charset="0"/>
              </a:rPr>
              <a:t>Below threshold: no email. Breach: email sent on each run while it persists. SMTP failure is recorded; metrics are retained.</a:t>
            </a:r>
          </a:p>
        </p:txBody>
      </p:sp>
    </p:spTree>
    <p:extLst>
      <p:ext uri="{BB962C8B-B14F-4D97-AF65-F5344CB8AC3E}">
        <p14:creationId xmlns:p14="http://schemas.microsoft.com/office/powerpoint/2010/main" val="3118928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87FA74-DF4F-0635-814F-7DAA99E7F24A}"/>
              </a:ext>
            </a:extLst>
          </p:cNvPr>
          <p:cNvSpPr txBox="1"/>
          <p:nvPr/>
        </p:nvSpPr>
        <p:spPr>
          <a:xfrm>
            <a:off x="609600" y="330200"/>
            <a:ext cx="10972800" cy="112851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3500" b="1">
                <a:solidFill>
                  <a:srgbClr val="182030"/>
                </a:solidFill>
                <a:latin typeface="Aptos" panose="020B0004020202020204" pitchFamily="34" charset="0"/>
              </a:rPr>
              <a:t>Configuration controls routing, scope, and safe operation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507FC2-2EDC-9584-BF0E-29873D4452A9}"/>
              </a:ext>
            </a:extLst>
          </p:cNvPr>
          <p:cNvSpPr/>
          <p:nvPr/>
        </p:nvSpPr>
        <p:spPr>
          <a:xfrm>
            <a:off x="609600" y="1155700"/>
            <a:ext cx="914400" cy="50800"/>
          </a:xfrm>
          <a:prstGeom prst="rect">
            <a:avLst/>
          </a:prstGeom>
          <a:solidFill>
            <a:srgbClr val="008A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D3AF4-949A-663E-F277-78E41D60DF17}"/>
              </a:ext>
            </a:extLst>
          </p:cNvPr>
          <p:cNvSpPr txBox="1"/>
          <p:nvPr/>
        </p:nvSpPr>
        <p:spPr>
          <a:xfrm>
            <a:off x="609600" y="6527800"/>
            <a:ext cx="889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 b="1">
                <a:solidFill>
                  <a:srgbClr val="505A66"/>
                </a:solidFill>
                <a:latin typeface="Aptos" panose="020B0004020202020204" pitchFamily="34" charset="0"/>
              </a:rPr>
              <a:t>KUBERNETES SRE OBSERVABILITY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23123-011D-B16F-C1B5-C4CD727ECD16}"/>
              </a:ext>
            </a:extLst>
          </p:cNvPr>
          <p:cNvSpPr txBox="1"/>
          <p:nvPr/>
        </p:nvSpPr>
        <p:spPr>
          <a:xfrm>
            <a:off x="11226800" y="6477000"/>
            <a:ext cx="406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 b="1">
                <a:solidFill>
                  <a:srgbClr val="505A66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6FE938-B5F5-836C-0FEF-18EC096C2BDF}"/>
              </a:ext>
            </a:extLst>
          </p:cNvPr>
          <p:cNvSpPr/>
          <p:nvPr/>
        </p:nvSpPr>
        <p:spPr>
          <a:xfrm>
            <a:off x="787400" y="1841500"/>
            <a:ext cx="3302000" cy="660400"/>
          </a:xfrm>
          <a:prstGeom prst="roundRect">
            <a:avLst/>
          </a:prstGeom>
          <a:solidFill>
            <a:srgbClr val="EEF2E2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2000" b="1">
                <a:solidFill>
                  <a:srgbClr val="182030"/>
                </a:solidFill>
                <a:latin typeface="Aptos" panose="020B0004020202020204" pitchFamily="34" charset="0"/>
              </a:rPr>
              <a:t>cluster_config.yaml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77758-2C7F-1433-09A0-F96238BC5792}"/>
              </a:ext>
            </a:extLst>
          </p:cNvPr>
          <p:cNvSpPr txBox="1"/>
          <p:nvPr/>
        </p:nvSpPr>
        <p:spPr>
          <a:xfrm>
            <a:off x="889000" y="2667000"/>
            <a:ext cx="3175000" cy="8361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700">
                <a:solidFill>
                  <a:srgbClr val="505A66"/>
                </a:solidFill>
                <a:latin typeface="Aptos" panose="020B0004020202020204" pitchFamily="34" charset="0"/>
              </a:rPr>
              <a:t>Cluster context / namespaces / log window / pod cap / event cap / threshold / team recipients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F10CA9-9F68-1E14-F603-AF8588ADA52D}"/>
              </a:ext>
            </a:extLst>
          </p:cNvPr>
          <p:cNvSpPr/>
          <p:nvPr/>
        </p:nvSpPr>
        <p:spPr>
          <a:xfrm>
            <a:off x="4445000" y="1841500"/>
            <a:ext cx="3175000" cy="660400"/>
          </a:xfrm>
          <a:prstGeom prst="roundRect">
            <a:avLst/>
          </a:prstGeom>
          <a:solidFill>
            <a:srgbClr val="EEF2E2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2000" b="1">
                <a:solidFill>
                  <a:srgbClr val="182030"/>
                </a:solidFill>
                <a:latin typeface="Aptos" panose="020B0004020202020204" pitchFamily="34" charset="0"/>
              </a:rPr>
              <a:t>Secret environment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B28E9A-E1D9-E793-399C-EC4A0E282F81}"/>
              </a:ext>
            </a:extLst>
          </p:cNvPr>
          <p:cNvSpPr txBox="1"/>
          <p:nvPr/>
        </p:nvSpPr>
        <p:spPr>
          <a:xfrm>
            <a:off x="4635500" y="2692400"/>
            <a:ext cx="27940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700">
                <a:solidFill>
                  <a:srgbClr val="505A66"/>
                </a:solidFill>
                <a:latin typeface="Aptos" panose="020B0004020202020204" pitchFamily="34" charset="0"/>
              </a:rPr>
              <a:t>SMTP_USERNAME / SMTP_PASSWORD / No credentials in config or source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95E097-68E2-A391-B55E-8F530E34725A}"/>
              </a:ext>
            </a:extLst>
          </p:cNvPr>
          <p:cNvSpPr/>
          <p:nvPr/>
        </p:nvSpPr>
        <p:spPr>
          <a:xfrm>
            <a:off x="8064500" y="1841500"/>
            <a:ext cx="3175000" cy="660400"/>
          </a:xfrm>
          <a:prstGeom prst="roundRect">
            <a:avLst/>
          </a:prstGeom>
          <a:solidFill>
            <a:srgbClr val="EEF2E2"/>
          </a:solidFill>
          <a:ln w="19050">
            <a:solidFill>
              <a:srgbClr val="008A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300" rIns="114300" rtlCol="0" anchor="ctr"/>
          <a:lstStyle/>
          <a:p>
            <a:pPr algn="ctr"/>
            <a:r>
              <a:rPr lang="en-US" sz="2000" b="1">
                <a:solidFill>
                  <a:srgbClr val="182030"/>
                </a:solidFill>
                <a:latin typeface="Aptos" panose="020B0004020202020204" pitchFamily="34" charset="0"/>
              </a:rPr>
              <a:t>Read-only identity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EC10DB-B540-319A-9E96-C1C911CD4B4E}"/>
              </a:ext>
            </a:extLst>
          </p:cNvPr>
          <p:cNvSpPr txBox="1"/>
          <p:nvPr/>
        </p:nvSpPr>
        <p:spPr>
          <a:xfrm>
            <a:off x="8255000" y="2692400"/>
            <a:ext cx="2794000" cy="8361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700">
                <a:solidFill>
                  <a:srgbClr val="505A66"/>
                </a:solidFill>
                <a:latin typeface="Aptos" panose="020B0004020202020204" pitchFamily="34" charset="0"/>
              </a:rPr>
              <a:t>RBAC: list/get cluster data`nget pods/log`nMetrics API read access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EA2090-1D24-4B22-386F-970C5C349E7F}"/>
              </a:ext>
            </a:extLst>
          </p:cNvPr>
          <p:cNvSpPr txBox="1"/>
          <p:nvPr/>
        </p:nvSpPr>
        <p:spPr>
          <a:xfrm>
            <a:off x="787400" y="4445000"/>
            <a:ext cx="8890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600" b="1">
                <a:solidFill>
                  <a:srgbClr val="008AB7"/>
                </a:solidFill>
                <a:latin typeface="Aptos" panose="020B0004020202020204" pitchFamily="34" charset="0"/>
              </a:rPr>
              <a:t>RUN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11A659-E97E-A256-906C-FFEE3AD640E6}"/>
              </a:ext>
            </a:extLst>
          </p:cNvPr>
          <p:cNvSpPr txBox="1"/>
          <p:nvPr/>
        </p:nvSpPr>
        <p:spPr>
          <a:xfrm>
            <a:off x="1676400" y="4445000"/>
            <a:ext cx="8255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800" b="1">
                <a:solidFill>
                  <a:srgbClr val="182030"/>
                </a:solidFill>
                <a:latin typeface="Aptos" panose="020B0004020202020204" pitchFamily="34" charset="0"/>
              </a:rPr>
              <a:t>python k8s_observability.py --config cluster_config.yaml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1AB146-7499-03C6-AE44-F34E6AE2BB94}"/>
              </a:ext>
            </a:extLst>
          </p:cNvPr>
          <p:cNvSpPr txBox="1"/>
          <p:nvPr/>
        </p:nvSpPr>
        <p:spPr>
          <a:xfrm>
            <a:off x="787400" y="5143500"/>
            <a:ext cx="17780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600" b="1">
                <a:solidFill>
                  <a:srgbClr val="008AB7"/>
                </a:solidFill>
                <a:latin typeface="Aptos" panose="020B0004020202020204" pitchFamily="34" charset="0"/>
              </a:rPr>
              <a:t>SRE rollout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3D004E-D5C0-AC54-E993-52173BDC42DF}"/>
              </a:ext>
            </a:extLst>
          </p:cNvPr>
          <p:cNvSpPr txBox="1"/>
          <p:nvPr/>
        </p:nvSpPr>
        <p:spPr>
          <a:xfrm>
            <a:off x="2540000" y="5080000"/>
            <a:ext cx="8763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700">
                <a:solidFill>
                  <a:srgbClr val="505A66"/>
                </a:solidFill>
                <a:latin typeface="Aptos" panose="020B0004020202020204" pitchFamily="34" charset="0"/>
              </a:rPr>
              <a:t>Enable approved SMTP relay and team list -&gt; validate on a non-production cluster -&gt; inspect JSON and mail delivery -&gt; schedule with retention and API-capacity limits.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2C8124-F57B-FC50-415C-C0D098198CCA}"/>
              </a:ext>
            </a:extLst>
          </p:cNvPr>
          <p:cNvSpPr txBox="1"/>
          <p:nvPr/>
        </p:nvSpPr>
        <p:spPr>
          <a:xfrm>
            <a:off x="698500" y="6019800"/>
            <a:ext cx="10795000" cy="45140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>
                <a:solidFill>
                  <a:srgbClr val="505A66"/>
                </a:solidFill>
                <a:latin typeface="Aptos" panose="020B0004020202020204" pitchFamily="34" charset="0"/>
              </a:rPr>
              <a:t>Node utilization is not per-container limit usage. Run-based alerts repeat until the condition clears; use Alertmanager for deduplication and sustained windows.</a:t>
            </a:r>
          </a:p>
        </p:txBody>
      </p:sp>
    </p:spTree>
    <p:extLst>
      <p:ext uri="{BB962C8B-B14F-4D97-AF65-F5344CB8AC3E}">
        <p14:creationId xmlns:p14="http://schemas.microsoft.com/office/powerpoint/2010/main" val="1163853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Custom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sathish rao</dc:creator>
  <cp:lastModifiedBy>sathish rao</cp:lastModifiedBy>
  <cp:revision>1</cp:revision>
  <dcterms:created xsi:type="dcterms:W3CDTF">2026-09-23T15:51:41Z</dcterms:created>
  <dcterms:modified xsi:type="dcterms:W3CDTF">2026-09-23T15:51:41Z</dcterms:modified>
</cp:coreProperties>
</file>