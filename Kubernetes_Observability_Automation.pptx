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7af4ee57ca4d54" /><Relationship Type="http://schemas.openxmlformats.org/officeDocument/2006/relationships/extended-properties" Target="/docProps/app.xml" Id="R1826f7d9ee464901" /><Relationship Type="http://schemas.openxmlformats.org/officeDocument/2006/relationships/officeDocument" Target="/ppt/presentation.xml" Id="R71a1e35f3e384c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fed1c9b13146ff"/>
  </p:sldMasterIdLst>
  <p:notesMasterIdLst>
    <p:notesMasterId xmlns:r="http://schemas.openxmlformats.org/officeDocument/2006/relationships" r:id="Rd697bcf492a64397"/>
  </p:notesMasterIdLst>
  <p:sldIdLst>
    <p:sldId xmlns:r="http://schemas.openxmlformats.org/officeDocument/2006/relationships" id="256" r:id="Rb757c0396f3e4bbd"/>
    <p:sldId xmlns:r="http://schemas.openxmlformats.org/officeDocument/2006/relationships" id="257" r:id="Rc35926c40ac141e1"/>
    <p:sldId xmlns:r="http://schemas.openxmlformats.org/officeDocument/2006/relationships" id="258" r:id="Rd90b78ad492f40a9"/>
    <p:sldId xmlns:r="http://schemas.openxmlformats.org/officeDocument/2006/relationships" id="259" r:id="Rbd5df57ebd7e4b93"/>
    <p:sldId xmlns:r="http://schemas.openxmlformats.org/officeDocument/2006/relationships" id="260" r:id="R684200d0a02a4c8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4a6cad2a0548b2" /><Relationship Type="http://schemas.openxmlformats.org/officeDocument/2006/relationships/slideMaster" Target="/ppt/slideMasters/slideMaster1.xml" Id="R80fed1c9b13146ff" /><Relationship Type="http://schemas.openxmlformats.org/officeDocument/2006/relationships/notesMaster" Target="/ppt/notesMasters/notesMaster1.xml" Id="Rd697bcf492a64397" /><Relationship Type="http://schemas.openxmlformats.org/officeDocument/2006/relationships/presProps" Target="/ppt/presProps.xml" Id="R4e07e8738954458f" /><Relationship Type="http://schemas.openxmlformats.org/officeDocument/2006/relationships/tableStyles" Target="/ppt/tableStyles.xml" Id="R01047f6bd78b4c91" /><Relationship Type="http://schemas.openxmlformats.org/officeDocument/2006/relationships/slide" Target="/ppt/slides/slide1.xml" Id="Rb757c0396f3e4bbd" /><Relationship Type="http://schemas.openxmlformats.org/officeDocument/2006/relationships/slide" Target="/ppt/slides/slide2.xml" Id="Rc35926c40ac141e1" /><Relationship Type="http://schemas.openxmlformats.org/officeDocument/2006/relationships/slide" Target="/ppt/slides/slide3.xml" Id="Rd90b78ad492f40a9" /><Relationship Type="http://schemas.openxmlformats.org/officeDocument/2006/relationships/slide" Target="/ppt/slides/slide4.xml" Id="Rbd5df57ebd7e4b93" /><Relationship Type="http://schemas.openxmlformats.org/officeDocument/2006/relationships/slide" Target="/ppt/slides/slide5.xml" Id="R684200d0a02a4c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ae0bb8f2b64a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eb4cc16a1b4a3e" /><Relationship Type="http://schemas.openxmlformats.org/officeDocument/2006/relationships/notesMaster" Target="/ppt/notesMasters/notesMaster1.xml" Id="Reb2d7406e58c42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aa4666c8964b63" /><Relationship Type="http://schemas.openxmlformats.org/officeDocument/2006/relationships/notesMaster" Target="/ppt/notesMasters/notesMaster1.xml" Id="R910c45d355284d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f7389a60b24280" /><Relationship Type="http://schemas.openxmlformats.org/officeDocument/2006/relationships/notesMaster" Target="/ppt/notesMasters/notesMaster1.xml" Id="R3a03d6ae6e8e42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2ec6a73a2e484c" /><Relationship Type="http://schemas.openxmlformats.org/officeDocument/2006/relationships/notesMaster" Target="/ppt/notesMasters/notesMaster1.xml" Id="Reb443b46732c45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a34971c8564645" /><Relationship Type="http://schemas.openxmlformats.org/officeDocument/2006/relationships/notesMaster" Target="/ppt/notesMasters/notesMaster1.xml" Id="R2af20ba5bd3a4e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25de3e43054e8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c4182454a84ad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fd1914a919451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a9230d442e434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4812e0f77d417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60cbb296de4c1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6f4271ce98434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157407d8ce4d3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ec2c6b28d247c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db0884d7e440b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ff351773914532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078F9C2-CD5A-10F4-F4DC-29EAB354BDE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4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45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E462D48-57DA-ABED-211B-F8687DA9709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02545DE-654F-FCA2-A59B-BBEA445E41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5CDC8F5-7D3D-4ED2-931A-B129E35FE284}" type="datetimeFigureOut">
              <a:t>23-Sep-26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1EA3EE-E498-E496-6E4B-2D07337886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8BA3F11-9778-8F43-F7B2-8B9247F57D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F20C4A2-5FD6-4E4D-8254-081B40DABEFA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55B5036-0903-4C7C-0477-12BC0C7F05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2E8B9E1-3A2A-9A45-3F9E-7A60F4DCDEB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7F9F5F4-BB5C-3431-BBF6-5CA2354E68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5CDC8F5-7D3D-4ED2-931A-B129E35FE284}" type="datetimeFigureOut">
              <a:t>23-Sep-26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4A92441-2249-F837-05FC-2CEF4279B6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57B0DFA-D5BB-9E58-D331-5515600A68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F20C4A2-5FD6-4E4D-8254-081B40DABEFA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6623549-59F1-5896-4F4E-7DE7ED0C5C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1" y="1709740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45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F102E1F-C918-93A0-BC35-2CB332E506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1" y="4589464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9B6715-A723-2947-7119-0AE1B3154C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5CDC8F5-7D3D-4ED2-931A-B129E35FE284}" type="datetimeFigureOut">
              <a:t>23-Sep-26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AF85B98-60BF-0493-3AD3-8AEE99D513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CAFBA36-DFEE-CA61-5106-5DC77A552D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F20C4A2-5FD6-4E4D-8254-081B40DABEFA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28CF9D8-861C-0B52-7B39-92074563F4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37FD7AE-EB25-7E49-94D8-CFD34E47D0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7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7A0B0AE-54D1-9F62-EA11-25C27772C5C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7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6D91C54-0E32-9E72-E203-A429CD7A19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5CDC8F5-7D3D-4ED2-931A-B129E35FE284}" type="datetimeFigureOut">
              <a:t>23-Sep-26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2A62734-6310-96A7-BB56-36BDCC8092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0AC0B7B-8804-657C-BDC5-8B215AF0E7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F20C4A2-5FD6-4E4D-8254-081B40DABEFA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E0C6C6B-2321-44F2-F386-0E2F311F4E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40F39A3-5690-E54C-9E51-43F6EBB779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90" y="1681164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F81C82C-607E-4AA3-3774-447EA609196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90" y="2505076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14C4D1C-F7F6-4C67-2036-71B918B9DBF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1" y="1681164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B9E0EAA-FA09-44E5-E5BC-44F19330F67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1" y="2505076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C2E3D072-3BED-1C12-6FE5-E5F099A0E4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5CDC8F5-7D3D-4ED2-931A-B129E35FE284}" type="datetimeFigureOut">
              <a:t>23-Sep-26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771DB80E-B886-7E32-2BA1-D724D8B7DB7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468764A5-34C1-7785-5E9E-5ECE9081B1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F20C4A2-5FD6-4E4D-8254-081B40DABEFA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BC714A9-E875-1A06-3CA5-4071D91EF0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99A68EB9-095A-37C9-14B3-5F1686F219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5CDC8F5-7D3D-4ED2-931A-B129E35FE284}" type="datetimeFigureOut">
              <a:t>23-Sep-26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39BB962-2BF3-5897-1E73-29E0B08433F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C013B1A-6B85-6990-F525-6545924C0B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F20C4A2-5FD6-4E4D-8254-081B40DABEFA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D74781DC-2EFD-8AB6-3771-5C3D4871F6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5CDC8F5-7D3D-4ED2-931A-B129E35FE284}" type="datetimeFigureOut">
              <a:t>23-Sep-26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585B2C2-8978-F42D-9BE2-EC546B40C0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F922B13-8962-3702-0BB8-30682CC843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F20C4A2-5FD6-4E4D-8254-081B40DABEFA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ED2A048-F832-050F-2AD6-FC07B08159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9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4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9ECB23-E30F-AE1A-CB55-0F4EB59E7C4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6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4541F15-384F-4D3E-78B7-84ADB701BA9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9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368894D-6A6E-525A-8255-F33D48B2CD2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5CDC8F5-7D3D-4ED2-931A-B129E35FE284}" type="datetimeFigureOut">
              <a:t>23-Sep-26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F0E87B2-45F2-A2CE-4273-9A65A9B1B5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8A619DA-F29C-70E9-9BC7-EFF0A85DF2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F20C4A2-5FD6-4E4D-8254-081B40DABEFA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89ABAE-9786-45E9-47EA-0864CCCE7A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9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4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7828176-2304-B3BC-53FC-77CE28F5E7B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6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CA35FDE-928C-349A-A9B2-87FA990B91D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9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27E4C4E-455D-95FB-3DE2-CEEB9D92C8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5CDC8F5-7D3D-4ED2-931A-B129E35FE284}" type="datetimeFigureOut">
              <a:t>23-Sep-26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440D61C-62F0-B9BD-E818-D48C4C5D792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A242384-E36F-F18F-1A3D-D06D4398BE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F20C4A2-5FD6-4E4D-8254-081B40DABEFA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ED91A86-88AC-92F6-EE74-BF4C070D15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0E8B1C8-053A-D23F-2B8F-D7CD13653E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1774ADC-0CDA-367E-25CA-B87A8F05592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5CDC8F5-7D3D-4ED2-931A-B129E35FE284}" type="datetimeFigureOut">
              <a:t>23-Sep-26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BA9109-970D-F730-3656-EB955607E9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EC3FD1F-F47B-8A46-D639-A0C45D8C34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F20C4A2-5FD6-4E4D-8254-081B40DABEFA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1EEDA2D-885C-64BD-5F0F-DCD583375F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1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CEBF445-7548-C5C6-BF32-A73202CFC7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1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8D8C031-ED4A-174C-42A7-BFC5A8600F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5CDC8F5-7D3D-4ED2-931A-B129E35FE284}" type="datetimeFigureOut">
              <a:t>23-Sep-26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6A63F6-BDB2-B5CB-1AA8-296D016B21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408D2D1-7DEB-84D3-3D6B-15BBBD1DAB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F20C4A2-5FD6-4E4D-8254-081B40DABEFA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55175be19e43ab" /><Relationship Type="http://schemas.openxmlformats.org/officeDocument/2006/relationships/slideLayout" Target="/ppt/slideLayouts/slideLayout1.xml" Id="R64bfb14ff5314a98" /><Relationship Type="http://schemas.openxmlformats.org/officeDocument/2006/relationships/slideLayout" Target="/ppt/slideLayouts/slideLayout2.xml" Id="Rab013bd5f66a4f2c" /><Relationship Type="http://schemas.openxmlformats.org/officeDocument/2006/relationships/slideLayout" Target="/ppt/slideLayouts/slideLayout3.xml" Id="Rec1b39659c9449ff" /><Relationship Type="http://schemas.openxmlformats.org/officeDocument/2006/relationships/slideLayout" Target="/ppt/slideLayouts/slideLayout4.xml" Id="Rb368a5fa61ca4161" /><Relationship Type="http://schemas.openxmlformats.org/officeDocument/2006/relationships/slideLayout" Target="/ppt/slideLayouts/slideLayout5.xml" Id="Rc3387fd486014f15" /><Relationship Type="http://schemas.openxmlformats.org/officeDocument/2006/relationships/slideLayout" Target="/ppt/slideLayouts/slideLayout6.xml" Id="R3c5d418c1bbd488a" /><Relationship Type="http://schemas.openxmlformats.org/officeDocument/2006/relationships/slideLayout" Target="/ppt/slideLayouts/slideLayout7.xml" Id="R0b011c681f954df4" /><Relationship Type="http://schemas.openxmlformats.org/officeDocument/2006/relationships/slideLayout" Target="/ppt/slideLayouts/slideLayout8.xml" Id="R004a351e51b7435f" /><Relationship Type="http://schemas.openxmlformats.org/officeDocument/2006/relationships/slideLayout" Target="/ppt/slideLayouts/slideLayout9.xml" Id="Rd49678cd0ffc4258" /><Relationship Type="http://schemas.openxmlformats.org/officeDocument/2006/relationships/slideLayout" Target="/ppt/slideLayouts/slideLayout10.xml" Id="R89d268b1df954fe0" /><Relationship Type="http://schemas.openxmlformats.org/officeDocument/2006/relationships/slideLayout" Target="/ppt/slideLayouts/slideLayout11.xml" Id="Re717a09ed4f74f1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4276C3E-5953-B334-680B-0DFBE0828D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AF6C7B7-CDA1-E6A8-5E11-ED2DCADB6A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7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5F6D19F-C287-74C4-4882-9FCDBFB784C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5CDC8F5-7D3D-4ED2-931A-B129E35FE284}" type="datetimeFigureOut">
              <a:t>23-Sep-26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7F78391-392B-DDE2-2589-FB0A33E015D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5AB1DD1-7616-7644-67CF-B0AD4F4264D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F20C4A2-5FD6-4E4D-8254-081B40DABEFA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bfb14ff5314a98"/>
    <p:sldLayoutId xmlns:r="http://schemas.openxmlformats.org/officeDocument/2006/relationships" id="2147483650" r:id="Rab013bd5f66a4f2c"/>
    <p:sldLayoutId xmlns:r="http://schemas.openxmlformats.org/officeDocument/2006/relationships" id="2147483651" r:id="Rec1b39659c9449ff"/>
    <p:sldLayoutId xmlns:r="http://schemas.openxmlformats.org/officeDocument/2006/relationships" id="2147483652" r:id="Rb368a5fa61ca4161"/>
    <p:sldLayoutId xmlns:r="http://schemas.openxmlformats.org/officeDocument/2006/relationships" id="2147483653" r:id="Rc3387fd486014f15"/>
    <p:sldLayoutId xmlns:r="http://schemas.openxmlformats.org/officeDocument/2006/relationships" id="2147483654" r:id="R3c5d418c1bbd488a"/>
    <p:sldLayoutId xmlns:r="http://schemas.openxmlformats.org/officeDocument/2006/relationships" id="2147483655" r:id="R0b011c681f954df4"/>
    <p:sldLayoutId xmlns:r="http://schemas.openxmlformats.org/officeDocument/2006/relationships" id="2147483656" r:id="R004a351e51b7435f"/>
    <p:sldLayoutId xmlns:r="http://schemas.openxmlformats.org/officeDocument/2006/relationships" id="2147483657" r:id="Rd49678cd0ffc4258"/>
    <p:sldLayoutId xmlns:r="http://schemas.openxmlformats.org/officeDocument/2006/relationships" id="2147483658" r:id="R89d268b1df954fe0"/>
    <p:sldLayoutId xmlns:r="http://schemas.openxmlformats.org/officeDocument/2006/relationships" id="2147483659" r:id="Re717a09ed4f74f17"/>
  </p:sldLayoutIdLst>
  <p:txStyles>
    <p:titleStyle>
      <a:lvl1pPr xmlns:a="http://schemas.openxmlformats.org/drawingml/2006/main" algn="l">
        <a:lnSpc>
          <a:spcPct val="90000"/>
        </a:lnSpc>
        <a:buNone/>
        <a:defRPr sz="33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71450" indent="-171450" algn="l">
        <a:lnSpc>
          <a:spcPct val="90000"/>
        </a:lnSpc>
        <a:spcBef>
          <a:spcPts val="750"/>
        </a:spcBef>
        <a:buChar char="•"/>
        <a:defRPr sz="21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14350" indent="-171450" algn="l">
        <a:lnSpc>
          <a:spcPct val="90000"/>
        </a:lnSpc>
        <a:spcBef>
          <a:spcPts val="375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57250" indent="-171450" algn="l">
        <a:lnSpc>
          <a:spcPct val="90000"/>
        </a:lnSpc>
        <a:spcBef>
          <a:spcPts val="375"/>
        </a:spcBef>
        <a:buChar char="•"/>
        <a:defRPr sz="15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2001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5430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8859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6a44de07b064946" /><Relationship Type="http://schemas.openxmlformats.org/officeDocument/2006/relationships/notesSlide" Target="/ppt/notesSlides/notesSlide1.xml" Id="Rfc4fc92cb78a4c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12fae10ad8e4d34" /><Relationship Type="http://schemas.openxmlformats.org/officeDocument/2006/relationships/notesSlide" Target="/ppt/notesSlides/notesSlide2.xml" Id="R1453d796979643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758bc2ec1d94f9b" /><Relationship Type="http://schemas.openxmlformats.org/officeDocument/2006/relationships/notesSlide" Target="/ppt/notesSlides/notesSlide3.xml" Id="Rf6a25be44f0948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ffb46641e1c46d4" /><Relationship Type="http://schemas.openxmlformats.org/officeDocument/2006/relationships/notesSlide" Target="/ppt/notesSlides/notesSlide4.xml" Id="Rb035b06a6fcf4e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59978464d9d48da" /><Relationship Type="http://schemas.openxmlformats.org/officeDocument/2006/relationships/notesSlide" Target="/ppt/notesSlides/notesSlide5.xml" Id="R4b4cda8a482e44e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69A4078-E195-B29F-F840-DD20D5FF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11049000" cy="5386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GKE observability collector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07E31DF-8FD2-EAD4-E67A-3CD25543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" y="1003300"/>
            <a:ext cx="9906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B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50B0467-B3FF-304C-5320-F283C860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8400"/>
            <a:ext cx="109220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05A66"/>
                </a:solidFill>
                <a:latin typeface="Aptos"/>
                <a:ea typeface="Aptos"/>
                <a:cs typeface="Aptos"/>
              </a:rPr>
              <a:t>Python uses your kubeconfig, Metrics Server, and optional Prometheus and trace search APIs.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9325CF9-E4A0-1AE9-2A02-BE34DCB2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" y="6527800"/>
            <a:ext cx="88900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505A66"/>
                </a:solidFill>
                <a:latin typeface="Aptos"/>
                <a:ea typeface="Aptos"/>
                <a:cs typeface="Aptos"/>
              </a:rPr>
              <a:t>GKE / KUBERNETES OBSERVABILITY AUTOMATION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4B1069E-9CBF-9FD3-AA11-6C33490B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0" y="6477000"/>
            <a:ext cx="431800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505A6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55839278-7E60-1F05-AA29-F37C2A9C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413000"/>
            <a:ext cx="24130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CF1F4"/>
          </a:solidFill>
          <a:ln xmlns:a="http://schemas.openxmlformats.org/drawingml/2006/main" w="17780">
            <a:solidFill>
              <a:srgbClr val="008AB7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27000" rIns="1270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GKE API</a:t>
            </a:r>
          </a:p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Inventory, events, logs</a:t>
            </a:r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4805B87E-88F4-3CA4-AA14-21431302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3937000"/>
            <a:ext cx="24130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CF1F4"/>
          </a:solidFill>
          <a:ln xmlns:a="http://schemas.openxmlformats.org/drawingml/2006/main" w="17780">
            <a:solidFill>
              <a:srgbClr val="008AB7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27000" rIns="1270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Metrics Server</a:t>
            </a:r>
          </a:p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Current CPU and memory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30DF8EF4-9A06-9B9F-9288-3E2D8B0D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5461000"/>
            <a:ext cx="2413000" cy="86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CF1F4"/>
          </a:solidFill>
          <a:ln xmlns:a="http://schemas.openxmlformats.org/drawingml/2006/main" w="17780">
            <a:solidFill>
              <a:srgbClr val="008AB7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27000" rIns="1270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Prometheus + traces</a:t>
            </a:r>
          </a:p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Optional backend queries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915CC4C5-7B86-BF7C-E32D-1606111C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3429000"/>
            <a:ext cx="2857500" cy="1333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E2"/>
          </a:solidFill>
          <a:ln xmlns:a="http://schemas.openxmlformats.org/drawingml/2006/main" w="17780">
            <a:solidFill>
              <a:srgbClr val="008AB7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27000" rIns="1270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Python collector</a:t>
            </a:r>
          </a:p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Read-only context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D42CF1B7-321F-F6AF-01CF-B148B8E9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2286000"/>
            <a:ext cx="2540000" cy="1041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8F0FF"/>
          </a:solidFill>
          <a:ln xmlns:a="http://schemas.openxmlformats.org/drawingml/2006/main" w="17780">
            <a:solidFill>
              <a:srgbClr val="008AB7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27000" rIns="1270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Health summary</a:t>
            </a:r>
          </a:p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80% CPU or memory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D5F76FC-7C76-13DF-7EAB-EFA05D14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3937000"/>
            <a:ext cx="2540000" cy="952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E2"/>
          </a:solidFill>
          <a:ln xmlns:a="http://schemas.openxmlformats.org/drawingml/2006/main" w="17780">
            <a:solidFill>
              <a:srgbClr val="008AB7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27000" rIns="1270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JSON snapshot</a:t>
            </a:r>
          </a:p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Signals and errors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124BCCF8-ADC5-9389-A136-650F07BB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97500"/>
            <a:ext cx="2540000" cy="86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CF1F4"/>
          </a:solidFill>
          <a:ln xmlns:a="http://schemas.openxmlformats.org/drawingml/2006/main" w="17780">
            <a:solidFill>
              <a:srgbClr val="008AB7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27000" rIns="1270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SMTP email</a:t>
            </a:r>
          </a:p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Configured SRE team</a:t>
            </a:r>
          </a:p>
        </p:txBody>
      </p:sp>
      <p:cxnSp>
        <p:nvCxnSpPr>
          <p:cNvPr id="68" name="Straight Arrow Connector 13"/>
          <p:cNvCxnSpPr/>
          <p:nvPr/>
        </p:nvCxnSpPr>
        <p:spPr>
          <a:xfrm xmlns:a="http://schemas.openxmlformats.org/drawingml/2006/main">
            <a:off x="3111500" y="2921000"/>
            <a:ext cx="1524000" cy="88900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08AB7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9" name="Straight Arrow Connector 14"/>
          <p:cNvCxnSpPr/>
          <p:nvPr/>
        </p:nvCxnSpPr>
        <p:spPr>
          <a:xfrm xmlns:a="http://schemas.openxmlformats.org/drawingml/2006/main" flipV="1">
            <a:off x="3111500" y="4127500"/>
            <a:ext cx="1524000" cy="31750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08AB7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70" name="Straight Arrow Connector 15"/>
          <p:cNvCxnSpPr/>
          <p:nvPr/>
        </p:nvCxnSpPr>
        <p:spPr>
          <a:xfrm xmlns:a="http://schemas.openxmlformats.org/drawingml/2006/main" flipV="1">
            <a:off x="3111500" y="4445000"/>
            <a:ext cx="1524000" cy="139700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08AB7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71" name="Straight Arrow Connector 16"/>
          <p:cNvCxnSpPr/>
          <p:nvPr/>
        </p:nvCxnSpPr>
        <p:spPr>
          <a:xfrm xmlns:a="http://schemas.openxmlformats.org/drawingml/2006/main" flipV="1">
            <a:off x="7493000" y="2794000"/>
            <a:ext cx="1397000" cy="101600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08AB7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72" name="Straight Arrow Connector 17"/>
          <p:cNvCxnSpPr/>
          <p:nvPr/>
        </p:nvCxnSpPr>
        <p:spPr>
          <a:xfrm xmlns:a="http://schemas.openxmlformats.org/drawingml/2006/main">
            <a:off x="7493000" y="4127500"/>
            <a:ext cx="1397000" cy="27940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08AB7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73" name="Straight Arrow Connector 18"/>
          <p:cNvCxnSpPr/>
          <p:nvPr/>
        </p:nvCxnSpPr>
        <p:spPr>
          <a:xfrm xmlns:a="http://schemas.openxmlformats.org/drawingml/2006/main">
            <a:off x="7493000" y="4445000"/>
            <a:ext cx="1397000" cy="137160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08AB7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68860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59027F2-DF79-104C-B774-3A2675AA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11049000" cy="5386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Collect signals, check health, write JSON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B91389C-73EB-8F2B-250B-E0C5C813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" y="1003300"/>
            <a:ext cx="9906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B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BBA6BC3-ECD5-509C-F391-AC55BD0B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8400"/>
            <a:ext cx="109220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05A66"/>
                </a:solidFill>
                <a:latin typeface="Aptos"/>
                <a:ea typeface="Aptos"/>
                <a:cs typeface="Aptos"/>
              </a:rPr>
              <a:t>Each source is queried independently; section errors stay visible in the snapshot.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1A4F7B7-0E5F-81B9-6C69-E18A4A46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" y="6527800"/>
            <a:ext cx="88900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505A66"/>
                </a:solidFill>
                <a:latin typeface="Aptos"/>
                <a:ea typeface="Aptos"/>
                <a:cs typeface="Aptos"/>
              </a:rPr>
              <a:t>GKE / KUBERNETES OBSERVABILITY AUTOMATION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79499BF-6DC4-6FFC-7C8E-B2C4E108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0" y="6477000"/>
            <a:ext cx="431800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505A6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AD408DE-5F42-3139-6FE3-EFF56ED3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1905000"/>
            <a:ext cx="10287000" cy="22313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2000">
                <a:solidFill>
                  <a:srgbClr val="182030"/>
                </a:solidFill>
                <a:latin typeface="Aptos"/>
                <a:ea typeface="Aptos"/>
                <a:cs typeface="Aptos"/>
              </a:rPr>
              <a:t>1  Load cluster configuration and kubeconfig context</a:t>
            </a:r>
          </a:p>
          <a:p xmlns:a="http://schemas.openxmlformats.org/drawingml/2006/main">
            <a:r>
              <a:rPr sz="2000">
                <a:solidFill>
                  <a:srgbClr val="182030"/>
                </a:solidFill>
                <a:latin typeface="Aptos"/>
                <a:ea typeface="Aptos"/>
                <a:cs typeface="Aptos"/>
              </a:rPr>
              <a:t>2  Collect inventory, events, and bounded pod logs</a:t>
            </a:r>
          </a:p>
          <a:p xmlns:a="http://schemas.openxmlformats.org/drawingml/2006/main">
            <a:r>
              <a:rPr sz="2000">
                <a:solidFill>
                  <a:srgbClr val="182030"/>
                </a:solidFill>
                <a:latin typeface="Aptos"/>
                <a:ea typeface="Aptos"/>
                <a:cs typeface="Aptos"/>
              </a:rPr>
              <a:t>3  Read current CPU and memory; query optional Prometheus and trace APIs</a:t>
            </a:r>
          </a:p>
          <a:p xmlns:a="http://schemas.openxmlformats.org/drawingml/2006/main">
            <a:r>
              <a:rPr sz="2000">
                <a:solidFill>
                  <a:srgbClr val="182030"/>
                </a:solidFill>
                <a:latin typeface="Aptos"/>
                <a:ea typeface="Aptos"/>
                <a:cs typeface="Aptos"/>
              </a:rPr>
              <a:t>4  Check API, node, and pod health; compare node usage with threshold</a:t>
            </a:r>
          </a:p>
          <a:p xmlns:a="http://schemas.openxmlformats.org/drawingml/2006/main">
            <a:r>
              <a:rPr sz="2000">
                <a:solidFill>
                  <a:srgbClr val="182030"/>
                </a:solidFill>
                <a:latin typeface="Aptos"/>
                <a:ea typeface="Aptos"/>
                <a:cs typeface="Aptos"/>
              </a:rPr>
              <a:t>5  Write timestamped JSON; email the team if a configured threshold is breached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0E61794-549C-72EF-E714-B048E2DC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67400"/>
            <a:ext cx="10287000" cy="5091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505A66"/>
                </a:solidFill>
                <a:latin typeface="Aptos"/>
                <a:ea typeface="Aptos"/>
                <a:cs typeface="Aptos"/>
              </a:rPr>
              <a:t>Metrics Server is current usage; Prometheus provides history. Trace search is backend-specific.</a:t>
            </a:r>
          </a:p>
        </p:txBody>
      </p:sp>
    </p:spTree>
    <p:extLst>
      <p:ext uri="{BB962C8B-B14F-4D97-AF65-F5344CB8AC3E}">
        <p14:creationId xmlns:p14="http://schemas.microsoft.com/office/powerpoint/2010/main" val="84131024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2CA8C78-2AFC-26F5-C12E-85F4BC8E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11049000" cy="5386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Use a GKE context with read-only permissions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683E999-B03C-89AF-7BC2-0E4846B2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" y="1003300"/>
            <a:ext cx="9906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B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075F180-B162-8299-C61B-B155CAF9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8400"/>
            <a:ext cx="109220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05A66"/>
                </a:solidFill>
                <a:latin typeface="Aptos"/>
                <a:ea typeface="Aptos"/>
                <a:cs typeface="Aptos"/>
              </a:rPr>
              <a:t>Run from a host that can reach the cluster API and configured telemetry endpoints.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3B27B24-0DE8-77BB-4FF8-D8DCEAF1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" y="6527800"/>
            <a:ext cx="88900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505A66"/>
                </a:solidFill>
                <a:latin typeface="Aptos"/>
                <a:ea typeface="Aptos"/>
                <a:cs typeface="Aptos"/>
              </a:rPr>
              <a:t>GKE / KUBERNETES OBSERVABILITY AUTOMATION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5A1C7ED-81EC-D22A-421A-AEDFD8F4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0" y="6477000"/>
            <a:ext cx="431800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505A6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1E86CA44-D0CE-E2BE-9551-237F2290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9000"/>
            <a:ext cx="3175000" cy="990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CF1F4"/>
          </a:solidFill>
          <a:ln xmlns:a="http://schemas.openxmlformats.org/drawingml/2006/main" w="17780">
            <a:solidFill>
              <a:srgbClr val="008AB7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27000" rIns="1270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gcloud get-credentials</a:t>
            </a:r>
          </a:p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Target project and region</a:t>
            </a:r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8E3B2604-799E-3358-9F09-1ED9E575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159000"/>
            <a:ext cx="3175000" cy="990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E2"/>
          </a:solidFill>
          <a:ln xmlns:a="http://schemas.openxmlformats.org/drawingml/2006/main" w="17780">
            <a:solidFill>
              <a:srgbClr val="008AB7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27000" rIns="1270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Kubeconfig context</a:t>
            </a:r>
          </a:p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GKE auth plugin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5992430A-5F12-E7E1-D31A-1D155CCE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159000"/>
            <a:ext cx="3175000" cy="990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CF1F4"/>
          </a:solidFill>
          <a:ln xmlns:a="http://schemas.openxmlformats.org/drawingml/2006/main" w="17780">
            <a:solidFill>
              <a:srgbClr val="008AB7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27000" rIns="1270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RBAC reader</a:t>
            </a:r>
          </a:p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Objects, logs, metrics</a:t>
            </a:r>
          </a:p>
        </p:txBody>
      </p:sp>
      <p:cxnSp>
        <p:nvCxnSpPr>
          <p:cNvPr id="41" name="Straight Arrow Connector 9"/>
          <p:cNvCxnSpPr/>
          <p:nvPr/>
        </p:nvCxnSpPr>
        <p:spPr>
          <a:xfrm xmlns:a="http://schemas.openxmlformats.org/drawingml/2006/main">
            <a:off x="3937000" y="26670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08AB7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42" name="Straight Arrow Connector 10"/>
          <p:cNvCxnSpPr/>
          <p:nvPr/>
        </p:nvCxnSpPr>
        <p:spPr>
          <a:xfrm xmlns:a="http://schemas.openxmlformats.org/drawingml/2006/main">
            <a:off x="7683500" y="26670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08AB7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BD51396-506B-532F-81AD-25C54D0C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10350500" cy="1554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182030"/>
                </a:solidFill>
                <a:latin typeface="Aptos"/>
                <a:ea typeface="Aptos"/>
                <a:cs typeface="Aptos"/>
              </a:rPr>
              <a:t>Install gke-gcloud-auth-plugin if kubeconfig uses exec authentication.</a:t>
            </a:r>
          </a:p>
          <a:p xmlns:a="http://schemas.openxmlformats.org/drawingml/2006/main">
            <a:r>
              <a:rPr sz="1600">
                <a:solidFill>
                  <a:srgbClr val="182030"/>
                </a:solidFill>
                <a:latin typeface="Aptos"/>
                <a:ea typeface="Aptos"/>
                <a:cs typeface="Aptos"/>
              </a:rPr>
              <a:t>Grant cluster access through Google Cloud IAM, then bind the collector identity to rbac-readonly.yaml.</a:t>
            </a:r>
          </a:p>
          <a:p xmlns:a="http://schemas.openxmlformats.org/drawingml/2006/main">
            <a:r>
              <a:rPr sz="1600">
                <a:solidFill>
                  <a:srgbClr val="182030"/>
                </a:solidFill>
                <a:latin typeface="Aptos"/>
                <a:ea typeface="Aptos"/>
                <a:cs typeface="Aptos"/>
              </a:rPr>
              <a:t>Confirm pods/log and metrics.k8s.io access; Metrics Server must be available for CPU and memory.</a:t>
            </a:r>
          </a:p>
        </p:txBody>
      </p:sp>
    </p:spTree>
    <p:extLst>
      <p:ext uri="{BB962C8B-B14F-4D97-AF65-F5344CB8AC3E}">
        <p14:creationId xmlns:p14="http://schemas.microsoft.com/office/powerpoint/2010/main" val="41765643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67E4878-C331-E39D-5627-E18B2915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11049000" cy="5386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A CPU or memory breach marks health degraded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7964983-CF04-4BCC-80CC-65A38D36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" y="1003300"/>
            <a:ext cx="9906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B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8B41D96-6148-EBA9-5199-FF4F8912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8400"/>
            <a:ext cx="109220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05A66"/>
                </a:solidFill>
                <a:latin typeface="Aptos"/>
                <a:ea typeface="Aptos"/>
                <a:cs typeface="Aptos"/>
              </a:rPr>
              <a:t>Default threshold: 80% inclusive, measured against node allocatable capacity.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FA1ACE2-1E79-53A7-EDED-DF9EF9E4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" y="6527800"/>
            <a:ext cx="88900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505A66"/>
                </a:solidFill>
                <a:latin typeface="Aptos"/>
                <a:ea typeface="Aptos"/>
                <a:cs typeface="Aptos"/>
              </a:rPr>
              <a:t>GKE / KUBERNETES OBSERVABILITY AUTOMATION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7E54F4D-C749-E31A-E13A-0156A8ED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0" y="6477000"/>
            <a:ext cx="431800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505A6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B784FF72-A2CC-6DED-D63E-79A4114F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2286000"/>
            <a:ext cx="4699000" cy="1333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E2"/>
          </a:solidFill>
          <a:ln xmlns:a="http://schemas.openxmlformats.org/drawingml/2006/main" w="17780">
            <a:solidFill>
              <a:srgbClr val="008AB7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27000" rIns="1270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CPU % =</a:t>
            </a:r>
          </a:p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used cores / allocatable cores x 100</a:t>
            </a:r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CE556747-9C8E-0A25-7C74-391FED42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0"/>
            <a:ext cx="4699000" cy="1333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E2"/>
          </a:solidFill>
          <a:ln xmlns:a="http://schemas.openxmlformats.org/drawingml/2006/main" w="17780">
            <a:solidFill>
              <a:srgbClr val="008AB7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27000" rIns="1270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Memory % =</a:t>
            </a:r>
          </a:p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used bytes / allocatable bytes x 100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E63D1A4-EB33-15C5-FED1-140F74C7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191000"/>
            <a:ext cx="10541000" cy="10618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182030"/>
                </a:solidFill>
                <a:latin typeface="Aptos"/>
                <a:ea typeface="Aptos"/>
                <a:cs typeface="Aptos"/>
              </a:rPr>
              <a:t>Evaluate each node separately. Either metric at or above threshold creates a breach.</a:t>
            </a:r>
          </a:p>
          <a:p xmlns:a="http://schemas.openxmlformats.org/drawingml/2006/main">
            <a:r>
              <a:rPr sz="1600">
                <a:solidFill>
                  <a:srgbClr val="182030"/>
                </a:solidFill>
                <a:latin typeface="Aptos"/>
                <a:ea typeface="Aptos"/>
                <a:cs typeface="Aptos"/>
              </a:rPr>
              <a:t>The summary also checks API reachability, node Ready state, and pod phase.</a:t>
            </a:r>
          </a:p>
          <a:p xmlns:a="http://schemas.openxmlformats.org/drawingml/2006/main">
            <a:r>
              <a:rPr sz="1600">
                <a:solidFill>
                  <a:srgbClr val="182030"/>
                </a:solidFill>
                <a:latin typeface="Aptos"/>
                <a:ea typeface="Aptos"/>
                <a:cs typeface="Aptos"/>
              </a:rPr>
              <a:t>When enabled, SMTP alerts repeat each run while a breach persists.</a:t>
            </a:r>
          </a:p>
        </p:txBody>
      </p:sp>
    </p:spTree>
    <p:extLst>
      <p:ext uri="{BB962C8B-B14F-4D97-AF65-F5344CB8AC3E}">
        <p14:creationId xmlns:p14="http://schemas.microsoft.com/office/powerpoint/2010/main" val="347234318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AAC695E-B76A-64A5-39D9-F2EF1E70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11049000" cy="5386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Run once to create a JSON snapshot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6BFC03D-4F61-D73E-98CD-3651A919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" y="1003300"/>
            <a:ext cx="9906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B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6739BCC-0F86-DAC3-96D7-04679E0D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8400"/>
            <a:ext cx="109220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05A66"/>
                </a:solidFill>
                <a:latin typeface="Aptos"/>
                <a:ea typeface="Aptos"/>
                <a:cs typeface="Aptos"/>
              </a:rPr>
              <a:t>The output records cluster state, metrics, trace results, health, and collection errors.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082F408-720A-35D0-524F-D9787DCE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" y="6527800"/>
            <a:ext cx="88900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505A66"/>
                </a:solidFill>
                <a:latin typeface="Aptos"/>
                <a:ea typeface="Aptos"/>
                <a:cs typeface="Aptos"/>
              </a:rPr>
              <a:t>GKE / KUBERNETES OBSERVABILITY AUTOMATION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150DC2-C894-228A-C7FA-B2A11EF5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0" y="6477000"/>
            <a:ext cx="431800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505A6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8AC47ABB-4EC5-1197-1B5E-136FAC75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1714500"/>
            <a:ext cx="5080000" cy="3492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CF1F4"/>
          </a:solidFill>
          <a:ln xmlns:a="http://schemas.openxmlformats.org/drawingml/2006/main" w="17780">
            <a:solidFill>
              <a:srgbClr val="008AB7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27000" rIns="1270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health and summary</a:t>
            </a:r>
          </a:p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nodes, pods, deployments, services</a:t>
            </a:r>
          </a:p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events and bounded pod logs</a:t>
            </a:r>
          </a:p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resource_metrics and threshold_breaches</a:t>
            </a:r>
          </a:p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Prometheus and trace results</a:t>
            </a:r>
          </a:p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errors and collection timestamp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0E12981-89FD-774A-5C86-0A88799E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500" y="1841500"/>
            <a:ext cx="381000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08AB7"/>
                </a:solidFill>
                <a:latin typeface="Aptos"/>
                <a:ea typeface="Aptos"/>
                <a:cs typeface="Aptos"/>
              </a:rPr>
              <a:t>Run once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5F11FAB-FCC9-5FF6-80CE-4EC20012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500" y="2286000"/>
            <a:ext cx="4699000" cy="5386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python k8s_observability.py --config cluster_config.yaml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240EBE9-ED87-1DD2-6042-CD2328CB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500" y="3556000"/>
            <a:ext cx="444500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08AB7"/>
                </a:solidFill>
                <a:latin typeface="Aptos"/>
                <a:ea typeface="Aptos"/>
                <a:cs typeface="Aptos"/>
              </a:rPr>
              <a:t>Override output and enable diagnostics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B320D8E-740E-B857-1E85-9DA80532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500" y="4000500"/>
            <a:ext cx="4699000" cy="5091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82030"/>
                </a:solidFill>
                <a:latin typeface="Aptos"/>
                <a:ea typeface="Aptos"/>
                <a:cs typeface="Aptos"/>
              </a:rPr>
              <a:t>python k8s_observability.py --config cluster_config.yaml --output output/prod --verbose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8B6DA1E-4B24-E6E3-47EF-68D0535F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5715000"/>
            <a:ext cx="10414000" cy="2930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50800" tIns="38100" rIns="50800" bIns="38100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505A66"/>
                </a:solidFill>
                <a:latin typeface="Aptos"/>
                <a:ea typeface="Aptos"/>
                <a:cs typeface="Aptos"/>
              </a:rPr>
              <a:t>Partial section failures are recorded in JSON; fatal setup errors exit with code 1.</a:t>
            </a:r>
          </a:p>
        </p:txBody>
      </p:sp>
    </p:spTree>
    <p:extLst>
      <p:ext uri="{BB962C8B-B14F-4D97-AF65-F5344CB8AC3E}">
        <p14:creationId xmlns:p14="http://schemas.microsoft.com/office/powerpoint/2010/main" val="86043050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2026-09-23T16:32:13.7930000Z</dcterms:created>
  <dcterms:modified xsi:type="dcterms:W3CDTF">2026-09-23T16:32:13.7930000Z</dcterms:modified>
</coreProperties>
</file>